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7" r:id="rId11"/>
    <p:sldId id="268" r:id="rId12"/>
    <p:sldId id="272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0F865-7161-E292-CA00-8CDA7581F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75A30-0899-E08E-15D9-5BDEDAB92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DF59A-26FE-4F5A-6BC6-0AB0665F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39498-9319-0A4A-790F-A9657558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DA70C-BC84-C28F-E708-C081A05E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88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3AB5-1648-BA94-87AE-481DF6CC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7C6E-9607-4FF3-F886-F12D37EF3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B295E-AA94-41E6-2C75-5D62BBE45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E79DB-6A19-ADE7-35F7-E35FEBD3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6F6E7-EAAF-C47C-1B08-86628F37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80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5EA2-80EE-8201-9EFF-9DA5926B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722B5-9D33-FDB8-C747-31E1FC4FC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71857-96DE-D695-659A-CE828128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A422B-CDF8-3E87-2480-EF1DE2E4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B66E9-0867-306B-04D3-33C36618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036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6503-FF96-5550-0FE5-665E9B2A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E3AA-2DD1-2707-D4A9-4C46295C8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D8791-182E-CE5A-620C-6DFE383CF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E9545-9E58-37EB-8EA2-ABDE6C66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DDDD8E-22E9-6975-A796-1360471D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DE799-88E0-74E2-2DB4-02ACE7E9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991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0CE2-9276-0DB8-74DE-7438050B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17317-1F70-F4AB-D723-B1301CCE1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215B9-6D09-BC5A-9B9E-C58D969A3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6DCD98-EB19-14EF-4E0C-73FF7092C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6474B-C896-9F3B-3F8B-CDB1743F1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BCB97-CFA6-51BF-3EB3-F43E38E0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80AE9-1DC3-45E7-5349-B0C49996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C0195-EB95-1F96-6575-F97BD1FF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11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B4A2-52C3-A7FA-FE36-4190E735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C5FA9-9BB5-F77A-5485-D462004C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C48FC-1772-AE33-EC48-D3151C778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0F07A-C52E-CC82-7D71-DA2908C0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636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9D60F-66C3-0186-B49C-5C10545C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3857E-CD89-41C4-8D14-A2A9857E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24A0B-BE62-B873-492E-B28FC7B2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591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8EC2-D239-6123-7717-C5C12CA5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5A1A9-B313-8719-4DE0-92D613FC8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C93BC-81F9-5942-F628-E01760157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29749-A731-7EF1-0100-ABE03918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59DAB-3F00-2240-F6C6-D35C0965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A1672-E804-E93F-6167-197E7EBF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619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7CAA-004A-B0D2-CBEC-BF2D0132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4C476-9030-FBA5-3B1E-2DFAED328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B1BC0-4A6E-C03C-CEC8-96784A01E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4699-7B1B-3967-D9B7-40578498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D386-1B71-D606-BC4C-B9655B49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64AC-3F3D-EBC6-2C03-834EB83B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580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FB8F-10D6-B626-A73D-F47C169B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4E7E4-E045-5A4A-8504-AEE47FD94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768D-A052-3F0C-F6DB-175626F9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D46-BE8D-60D0-3819-DAEBE520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7B747-BD6E-56BA-513A-78E4F01A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18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C03F5-8F56-960A-434B-E3EF828AF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33D0F-22E4-D0C6-9E93-DBDAA51CB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DBBB4-4B2C-B0CE-8596-0A0BE95A3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04795-C2E0-0C9E-8393-19970F806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69314-65C6-49DF-30AD-2A25329E0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2158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25701-E7D9-3149-06A8-46769D25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93CEE-4040-4CBC-4F18-4C08E8DA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EF2FB-ED9C-7BF3-6961-C4B6C4442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3FBCD-0098-4CDC-B3D1-932332A6CD26}" type="datetimeFigureOut">
              <a:rPr lang="en-IL" smtClean="0"/>
              <a:t>15/03/2026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3259A-A2B1-D014-7342-61D75F6E0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8EDE-C8E9-9C15-9A9E-29F7ECC13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2AFEE-F3C7-4307-9DE4-77EB7ADA33E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630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D4373-B3D6-6CC7-1D37-36DD2D1A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11D3D5-D54C-DBC3-C77B-F3D32BCCF199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4F97D-6014-D03F-4E4A-5AC3D7C2879B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75346-2F13-C0C3-0828-2C8B8027BFF4}"/>
              </a:ext>
            </a:extLst>
          </p:cNvPr>
          <p:cNvSpPr txBox="1"/>
          <p:nvPr/>
        </p:nvSpPr>
        <p:spPr>
          <a:xfrm>
            <a:off x="609600" y="965200"/>
            <a:ext cx="1092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Advanced use cases of AI</a:t>
            </a:r>
            <a:endParaRPr kumimoji="0" lang="en-IL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60459-2CBB-AA84-9E8D-6FEA98602726}"/>
              </a:ext>
            </a:extLst>
          </p:cNvPr>
          <p:cNvSpPr txBox="1"/>
          <p:nvPr/>
        </p:nvSpPr>
        <p:spPr>
          <a:xfrm>
            <a:off x="609599" y="1948587"/>
            <a:ext cx="1125834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4BED2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 case study from ORBIT: a QFT oriented Mathematica package built purely using AI.</a:t>
            </a: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srgbClr val="B4BED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D41132-BF29-E81F-BC47-B9D79C18F07A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B4BED2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ORBIT case study | Title Slide</a:t>
            </a:r>
            <a:endParaRPr kumimoji="0" lang="en-IL" sz="1000" b="0" i="0" u="none" strike="noStrike" kern="1200" cap="none" spc="0" normalizeH="0" baseline="0" noProof="0" dirty="0">
              <a:ln>
                <a:noFill/>
              </a:ln>
              <a:solidFill>
                <a:srgbClr val="B4BED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468448-40ED-FAD9-F256-F1A9CDEFA595}"/>
              </a:ext>
            </a:extLst>
          </p:cNvPr>
          <p:cNvSpPr txBox="1"/>
          <p:nvPr/>
        </p:nvSpPr>
        <p:spPr>
          <a:xfrm>
            <a:off x="609599" y="5162687"/>
            <a:ext cx="10922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By: Alon Lifshits -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AdQuantumGravity</a:t>
            </a:r>
            <a:endParaRPr kumimoji="0" lang="en-IL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83B13A0-5366-2D5B-B93E-4F9A04AE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00" y="2685753"/>
            <a:ext cx="97536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1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039BB7-28A5-29ED-2EBE-611CC6AD6450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B17CA-4D62-F4FE-0144-5B50828FA6D9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7AB6C2-CA4C-76FB-F089-7103C4D30C56}"/>
              </a:ext>
            </a:extLst>
          </p:cNvPr>
          <p:cNvSpPr txBox="1"/>
          <p:nvPr/>
        </p:nvSpPr>
        <p:spPr>
          <a:xfrm>
            <a:off x="609600" y="965200"/>
            <a:ext cx="10922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Aptos Display" panose="020B0004020202020204" pitchFamily="34" charset="0"/>
              </a:rPr>
              <a:t>Agentic AI for physics-oriented software development</a:t>
            </a:r>
            <a:endParaRPr lang="en-IL" sz="26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9A6A8A-0CA2-E32F-1870-6A1101E25376}"/>
              </a:ext>
            </a:extLst>
          </p:cNvPr>
          <p:cNvSpPr/>
          <p:nvPr/>
        </p:nvSpPr>
        <p:spPr>
          <a:xfrm>
            <a:off x="519095" y="1877820"/>
            <a:ext cx="10976009" cy="1936817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4F6FA"/>
                </a:solidFill>
                <a:latin typeface="Aptos" panose="020B0004020202020204" pitchFamily="34" charset="0"/>
              </a:rPr>
              <a:t>Agentic AI is most valuable when the task is a long chain of reasoning, code repair, symbolic computation, validation, and reporting.</a:t>
            </a:r>
          </a:p>
          <a:p>
            <a:pPr marL="285750" indent="-285750">
              <a:buFontTx/>
              <a:buChar char="-"/>
            </a:pPr>
            <a:endParaRPr lang="en-US" sz="20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rgbClr val="F4F6FA"/>
                </a:solidFill>
                <a:latin typeface="Aptos" panose="020B0004020202020204" pitchFamily="34" charset="0"/>
              </a:rPr>
              <a:t>This project showcased here is a concrete example: the AI agent is utilized to write a complex toolkit, validate it, accelerate the workflow, and correctly extend the physical reasoning.</a:t>
            </a:r>
          </a:p>
          <a:p>
            <a:endParaRPr lang="en-US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308155-CB7C-6DD8-CC51-AAC877A930A2}"/>
              </a:ext>
            </a:extLst>
          </p:cNvPr>
          <p:cNvSpPr/>
          <p:nvPr/>
        </p:nvSpPr>
        <p:spPr>
          <a:xfrm>
            <a:off x="609600" y="3725447"/>
            <a:ext cx="10795000" cy="2438400"/>
          </a:xfrm>
          <a:prstGeom prst="roundRect">
            <a:avLst/>
          </a:prstGeom>
          <a:noFill/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8A72D-FAEA-6D10-C10D-B460BA3A2CD5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1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  <p:pic>
        <p:nvPicPr>
          <p:cNvPr id="1026" name="Picture 2" descr="OpenAI's GPT 5.4 in 10 Minutes: 1M Context, Computer Use, Coding Gains,  Benchmarks &amp; Pricing">
            <a:extLst>
              <a:ext uri="{FF2B5EF4-FFF2-40B4-BE49-F238E27FC236}">
                <a16:creationId xmlns:a16="http://schemas.microsoft.com/office/drawing/2014/main" id="{B16292D0-4CF3-2FB5-49B4-BC98DF32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179" y="3725447"/>
            <a:ext cx="5197642" cy="292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199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F3497A-A6FC-DFFE-88C2-29D306934A13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89045-9DFB-71CD-59C5-D58C66CE1944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35288-5F87-926E-F4F6-4F6E898382CC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1. Motivation</a:t>
            </a:r>
            <a:endParaRPr lang="en-IL" sz="2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BD20DBD-D1E5-FB17-A6F3-DE0E9CB8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93" y="1672629"/>
            <a:ext cx="10815213" cy="410373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943629F-EA9B-D451-312C-740CC4E7AAD5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2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97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2B87FF-6A41-8DAF-0E90-5EF36ECD7837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18E55-9295-9CB7-C1BE-867A496034F7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ADF18-B753-ABD9-5DCF-2486F1407FD2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2. The problem at hand</a:t>
            </a:r>
            <a:endParaRPr lang="en-IL" sz="2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A5182C-0612-497E-2E5C-294665F35EEA}"/>
              </a:ext>
            </a:extLst>
          </p:cNvPr>
          <p:cNvSpPr/>
          <p:nvPr/>
        </p:nvSpPr>
        <p:spPr>
          <a:xfrm>
            <a:off x="609600" y="1253424"/>
            <a:ext cx="10972800" cy="1151811"/>
          </a:xfrm>
          <a:prstGeom prst="roundRect">
            <a:avLst/>
          </a:prstGeom>
          <a:solidFill>
            <a:srgbClr val="1CB6A4"/>
          </a:solidFill>
          <a:ln w="15875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B833E-00E4-5978-5F9B-622CAB46AA58}"/>
              </a:ext>
            </a:extLst>
          </p:cNvPr>
          <p:cNvSpPr txBox="1"/>
          <p:nvPr/>
        </p:nvSpPr>
        <p:spPr>
          <a:xfrm>
            <a:off x="640346" y="1354965"/>
            <a:ext cx="107188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0C162E"/>
                </a:solidFill>
                <a:latin typeface="Aptos" panose="020B0004020202020204" pitchFamily="34" charset="0"/>
              </a:rPr>
              <a:t>How do we take a </a:t>
            </a:r>
            <a:r>
              <a:rPr lang="en-US" dirty="0" err="1">
                <a:solidFill>
                  <a:srgbClr val="0C162E"/>
                </a:solidFill>
                <a:latin typeface="Aptos" panose="020B0004020202020204" pitchFamily="34" charset="0"/>
              </a:rPr>
              <a:t>Matchete</a:t>
            </a:r>
            <a:r>
              <a:rPr lang="en-US" dirty="0">
                <a:solidFill>
                  <a:srgbClr val="0C162E"/>
                </a:solidFill>
                <a:latin typeface="Aptos" panose="020B0004020202020204" pitchFamily="34" charset="0"/>
              </a:rPr>
              <a:t>-generated effective </a:t>
            </a:r>
            <a:r>
              <a:rPr lang="en-US" dirty="0" err="1">
                <a:solidFill>
                  <a:srgbClr val="0C162E"/>
                </a:solidFill>
                <a:latin typeface="Aptos" panose="020B0004020202020204" pitchFamily="34" charset="0"/>
              </a:rPr>
              <a:t>Lagrangian</a:t>
            </a:r>
            <a:r>
              <a:rPr lang="en-US" dirty="0">
                <a:solidFill>
                  <a:srgbClr val="0C162E"/>
                </a:solidFill>
                <a:latin typeface="Aptos" panose="020B0004020202020204" pitchFamily="34" charset="0"/>
              </a:rPr>
              <a:t>, translate it into </a:t>
            </a:r>
            <a:r>
              <a:rPr lang="en-US" dirty="0" err="1">
                <a:solidFill>
                  <a:srgbClr val="0C162E"/>
                </a:solidFill>
                <a:latin typeface="Aptos" panose="020B0004020202020204" pitchFamily="34" charset="0"/>
              </a:rPr>
              <a:t>xAct</a:t>
            </a:r>
            <a:r>
              <a:rPr lang="en-US" dirty="0">
                <a:solidFill>
                  <a:srgbClr val="0C162E"/>
                </a:solidFill>
                <a:latin typeface="Aptos" panose="020B0004020202020204" pitchFamily="34" charset="0"/>
              </a:rPr>
              <a:t>, remove IBP and field-redefinition redundancies, construct the Einstein-Hilbert (EH) reference through the same operator basis, and determine whether the two match?</a:t>
            </a:r>
            <a:endParaRPr lang="en-IL" dirty="0">
              <a:solidFill>
                <a:srgbClr val="0C162E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78502E-943F-38F4-F706-B7A35A7B4ED3}"/>
              </a:ext>
            </a:extLst>
          </p:cNvPr>
          <p:cNvSpPr/>
          <p:nvPr/>
        </p:nvSpPr>
        <p:spPr>
          <a:xfrm>
            <a:off x="957978" y="2744000"/>
            <a:ext cx="1524000" cy="17272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Given high-energy model gives low energy effective </a:t>
            </a:r>
            <a:r>
              <a:rPr lang="en-US" sz="1200" dirty="0" err="1"/>
              <a:t>Lagrangian</a:t>
            </a:r>
            <a:endParaRPr lang="en-IL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0E75EB-97B6-1FE2-8B40-6E8A89356E9C}"/>
              </a:ext>
            </a:extLst>
          </p:cNvPr>
          <p:cNvSpPr txBox="1"/>
          <p:nvPr/>
        </p:nvSpPr>
        <p:spPr>
          <a:xfrm>
            <a:off x="1084978" y="2851749"/>
            <a:ext cx="127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 err="1">
                <a:solidFill>
                  <a:srgbClr val="FFFFFF"/>
                </a:solidFill>
                <a:latin typeface="Aptos" panose="020B0004020202020204" pitchFamily="34" charset="0"/>
              </a:rPr>
              <a:t>Matchete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75A2AE-A55C-5E32-4B53-3861F3719692}"/>
              </a:ext>
            </a:extLst>
          </p:cNvPr>
          <p:cNvSpPr/>
          <p:nvPr/>
        </p:nvSpPr>
        <p:spPr>
          <a:xfrm>
            <a:off x="2888378" y="2744000"/>
            <a:ext cx="1524000" cy="17272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Translate syntax to package with built-in tensorial manipulation capabilities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59FBB5-D54E-61D0-8041-1BCBA0B265A6}"/>
              </a:ext>
            </a:extLst>
          </p:cNvPr>
          <p:cNvSpPr txBox="1"/>
          <p:nvPr/>
        </p:nvSpPr>
        <p:spPr>
          <a:xfrm>
            <a:off x="3015378" y="2845600"/>
            <a:ext cx="127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Translation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EF2AA1-CA7E-C12A-BAE6-47DD60006201}"/>
              </a:ext>
            </a:extLst>
          </p:cNvPr>
          <p:cNvSpPr/>
          <p:nvPr/>
        </p:nvSpPr>
        <p:spPr>
          <a:xfrm>
            <a:off x="4804872" y="2744000"/>
            <a:ext cx="1524000" cy="17272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Remove IBP and field-redefinition redundancies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C86D0D-CA50-F8EF-B91E-74E4905AC196}"/>
              </a:ext>
            </a:extLst>
          </p:cNvPr>
          <p:cNvSpPr txBox="1"/>
          <p:nvPr/>
        </p:nvSpPr>
        <p:spPr>
          <a:xfrm>
            <a:off x="4951124" y="2845600"/>
            <a:ext cx="127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Reduction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09D4D2-09B8-0E1F-D35B-8DC94F9C7963}"/>
              </a:ext>
            </a:extLst>
          </p:cNvPr>
          <p:cNvSpPr/>
          <p:nvPr/>
        </p:nvSpPr>
        <p:spPr>
          <a:xfrm>
            <a:off x="6735273" y="2744000"/>
            <a:ext cx="1803400" cy="17272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Expand EH + Lambda in the same basis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CFA0D-9A7A-3E66-BBF7-D35D64303348}"/>
              </a:ext>
            </a:extLst>
          </p:cNvPr>
          <p:cNvSpPr txBox="1"/>
          <p:nvPr/>
        </p:nvSpPr>
        <p:spPr>
          <a:xfrm>
            <a:off x="6857058" y="2855323"/>
            <a:ext cx="1559829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Reference build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7871D1-4B3F-58DE-9E34-647F5BB88ADD}"/>
              </a:ext>
            </a:extLst>
          </p:cNvPr>
          <p:cNvSpPr/>
          <p:nvPr/>
        </p:nvSpPr>
        <p:spPr>
          <a:xfrm>
            <a:off x="8935179" y="2744000"/>
            <a:ext cx="1524000" cy="17272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US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Solve constraints and isolate leftovers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algn="ctr"/>
            <a:endParaRPr lang="en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386A57-2930-FFA3-7416-6BD6ED52497B}"/>
              </a:ext>
            </a:extLst>
          </p:cNvPr>
          <p:cNvSpPr txBox="1"/>
          <p:nvPr/>
        </p:nvSpPr>
        <p:spPr>
          <a:xfrm>
            <a:off x="9062179" y="2845600"/>
            <a:ext cx="127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Comparison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063424-679A-9313-8C90-069BE2775ED1}"/>
              </a:ext>
            </a:extLst>
          </p:cNvPr>
          <p:cNvCxnSpPr/>
          <p:nvPr/>
        </p:nvCxnSpPr>
        <p:spPr>
          <a:xfrm>
            <a:off x="2481978" y="3607600"/>
            <a:ext cx="406400" cy="0"/>
          </a:xfrm>
          <a:prstGeom prst="line">
            <a:avLst/>
          </a:prstGeom>
          <a:ln w="25400">
            <a:solidFill>
              <a:srgbClr val="E8B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69806F-72BF-8848-CD81-A5BBE9D933BD}"/>
              </a:ext>
            </a:extLst>
          </p:cNvPr>
          <p:cNvCxnSpPr/>
          <p:nvPr/>
        </p:nvCxnSpPr>
        <p:spPr>
          <a:xfrm>
            <a:off x="4398472" y="3607600"/>
            <a:ext cx="406400" cy="0"/>
          </a:xfrm>
          <a:prstGeom prst="line">
            <a:avLst/>
          </a:prstGeom>
          <a:ln w="25400">
            <a:solidFill>
              <a:srgbClr val="E8B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780290-BFE0-0B1C-FA6C-0F0CB3BAA301}"/>
              </a:ext>
            </a:extLst>
          </p:cNvPr>
          <p:cNvCxnSpPr/>
          <p:nvPr/>
        </p:nvCxnSpPr>
        <p:spPr>
          <a:xfrm>
            <a:off x="6328873" y="3607600"/>
            <a:ext cx="406400" cy="0"/>
          </a:xfrm>
          <a:prstGeom prst="line">
            <a:avLst/>
          </a:prstGeom>
          <a:ln w="25400">
            <a:solidFill>
              <a:srgbClr val="E8B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37467A1-6E8A-205C-007D-1D5AA6136827}"/>
              </a:ext>
            </a:extLst>
          </p:cNvPr>
          <p:cNvCxnSpPr/>
          <p:nvPr/>
        </p:nvCxnSpPr>
        <p:spPr>
          <a:xfrm>
            <a:off x="8528779" y="3607600"/>
            <a:ext cx="406400" cy="0"/>
          </a:xfrm>
          <a:prstGeom prst="line">
            <a:avLst/>
          </a:prstGeom>
          <a:ln w="25400">
            <a:solidFill>
              <a:srgbClr val="E8B5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004D98E-F73D-8851-59A9-E3E8795CC16F}"/>
              </a:ext>
            </a:extLst>
          </p:cNvPr>
          <p:cNvSpPr/>
          <p:nvPr/>
        </p:nvSpPr>
        <p:spPr>
          <a:xfrm>
            <a:off x="2481978" y="5120788"/>
            <a:ext cx="6531008" cy="736600"/>
          </a:xfrm>
          <a:prstGeom prst="roundRect">
            <a:avLst/>
          </a:prstGeom>
          <a:solidFill>
            <a:srgbClr val="EA6F5C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941F27-FA04-2E41-A433-A42F84E017CB}"/>
              </a:ext>
            </a:extLst>
          </p:cNvPr>
          <p:cNvSpPr txBox="1"/>
          <p:nvPr/>
        </p:nvSpPr>
        <p:spPr>
          <a:xfrm>
            <a:off x="2608978" y="5222388"/>
            <a:ext cx="609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en-IL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A42E43-62C7-D185-9A35-C6192D092E75}"/>
              </a:ext>
            </a:extLst>
          </p:cNvPr>
          <p:cNvSpPr txBox="1"/>
          <p:nvPr/>
        </p:nvSpPr>
        <p:spPr>
          <a:xfrm>
            <a:off x="2576356" y="5270583"/>
            <a:ext cx="634037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Success criterion: correctly reduce the </a:t>
            </a: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Lagrangian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, expand the EH </a:t>
            </a: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Lagrangian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 correctly, find the known solution from manual calculation done.</a:t>
            </a:r>
            <a:endParaRPr lang="en-IL" sz="14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158400-DAA5-D003-4E24-0CD64C8563AB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4BED2"/>
                </a:solidFill>
                <a:latin typeface="Aptos" panose="020B0004020202020204" pitchFamily="34" charset="0"/>
              </a:rPr>
              <a:t>ORBIT case study | Slide 3</a:t>
            </a:r>
            <a:endParaRPr lang="en-IL" sz="100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4D36B6-266D-94F4-0EF6-FCBF1CCDA33A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5093A-316B-70A9-9A47-F2B713A7A519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ACF4D-8EC2-1EA4-5F65-497288E87421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3. The Challenges</a:t>
            </a:r>
            <a:endParaRPr lang="en-IL" sz="2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C90C1A-C2A6-BE67-18A9-116A29E22BDD}"/>
              </a:ext>
            </a:extLst>
          </p:cNvPr>
          <p:cNvSpPr/>
          <p:nvPr/>
        </p:nvSpPr>
        <p:spPr>
          <a:xfrm>
            <a:off x="660400" y="14224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49C3D5-45B6-B994-E6F7-D99FB984C798}"/>
              </a:ext>
            </a:extLst>
          </p:cNvPr>
          <p:cNvSpPr txBox="1"/>
          <p:nvPr/>
        </p:nvSpPr>
        <p:spPr>
          <a:xfrm>
            <a:off x="787400" y="2066241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Mathematica syntax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2C5751-A85F-3998-D93F-BF9815E5F6BD}"/>
              </a:ext>
            </a:extLst>
          </p:cNvPr>
          <p:cNvSpPr/>
          <p:nvPr/>
        </p:nvSpPr>
        <p:spPr>
          <a:xfrm>
            <a:off x="4165600" y="14224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15C77-E135-0FBD-F81A-D000B0147C14}"/>
              </a:ext>
            </a:extLst>
          </p:cNvPr>
          <p:cNvSpPr txBox="1"/>
          <p:nvPr/>
        </p:nvSpPr>
        <p:spPr>
          <a:xfrm>
            <a:off x="4292600" y="2066241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Tensor manipulations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21884A-B0AC-E6A4-555F-E1A2682D601D}"/>
              </a:ext>
            </a:extLst>
          </p:cNvPr>
          <p:cNvSpPr/>
          <p:nvPr/>
        </p:nvSpPr>
        <p:spPr>
          <a:xfrm>
            <a:off x="7670800" y="14224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60B0E-DE65-4EA8-9152-2F156D004DF0}"/>
              </a:ext>
            </a:extLst>
          </p:cNvPr>
          <p:cNvSpPr txBox="1"/>
          <p:nvPr/>
        </p:nvSpPr>
        <p:spPr>
          <a:xfrm>
            <a:off x="7797800" y="2066241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Integration by parts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44893C-F3B5-3349-2418-5A112E73AC74}"/>
              </a:ext>
            </a:extLst>
          </p:cNvPr>
          <p:cNvSpPr/>
          <p:nvPr/>
        </p:nvSpPr>
        <p:spPr>
          <a:xfrm>
            <a:off x="660400" y="36576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0E5D3C-747A-4096-014D-E8B95F65E2D2}"/>
              </a:ext>
            </a:extLst>
          </p:cNvPr>
          <p:cNvSpPr txBox="1"/>
          <p:nvPr/>
        </p:nvSpPr>
        <p:spPr>
          <a:xfrm>
            <a:off x="787400" y="4215199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Field redefinitions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3A8BC3-1634-28E1-53D6-422EAB99CF45}"/>
              </a:ext>
            </a:extLst>
          </p:cNvPr>
          <p:cNvSpPr/>
          <p:nvPr/>
        </p:nvSpPr>
        <p:spPr>
          <a:xfrm>
            <a:off x="4165600" y="36576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99966-2AD6-54C4-2935-932D194F11EE}"/>
              </a:ext>
            </a:extLst>
          </p:cNvPr>
          <p:cNvSpPr txBox="1"/>
          <p:nvPr/>
        </p:nvSpPr>
        <p:spPr>
          <a:xfrm>
            <a:off x="4292600" y="4215199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Performance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58802B-DBFB-1B10-BFA0-5DE796955FEF}"/>
              </a:ext>
            </a:extLst>
          </p:cNvPr>
          <p:cNvSpPr/>
          <p:nvPr/>
        </p:nvSpPr>
        <p:spPr>
          <a:xfrm>
            <a:off x="7670800" y="3657600"/>
            <a:ext cx="3175000" cy="1676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D5E07-9EF6-FC65-D796-EEFBDB77EA87}"/>
              </a:ext>
            </a:extLst>
          </p:cNvPr>
          <p:cNvSpPr txBox="1"/>
          <p:nvPr/>
        </p:nvSpPr>
        <p:spPr>
          <a:xfrm>
            <a:off x="7797800" y="4215199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Sanity checks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B398E-6D4E-6245-B322-C3403F6178F6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4BED2"/>
                </a:solidFill>
                <a:latin typeface="Aptos" panose="020B0004020202020204" pitchFamily="34" charset="0"/>
              </a:rPr>
              <a:t>ORBIT case study | Slide 4</a:t>
            </a:r>
            <a:endParaRPr lang="en-IL" sz="100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2B0BC85-DA6F-BCD6-92C5-6424F526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58" y="1179126"/>
            <a:ext cx="6840684" cy="548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0C7726-9FDD-CF26-8A32-512DA2DF9161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B2C74-D703-85D8-3BDE-A8F92A0722DD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99A05-82D4-18BE-E6EA-DA668F693E85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4. The Recent Boom in Agentic AI Usage</a:t>
            </a:r>
            <a:endParaRPr lang="en-IL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F53CAE7-A1B5-CE70-AEE3-4A33884FEC0F}"/>
              </a:ext>
            </a:extLst>
          </p:cNvPr>
          <p:cNvSpPr/>
          <p:nvPr/>
        </p:nvSpPr>
        <p:spPr>
          <a:xfrm>
            <a:off x="660400" y="1422399"/>
            <a:ext cx="3327400" cy="2881314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833AC-F5F6-0E65-BC8D-2E4BAC4728B1}"/>
              </a:ext>
            </a:extLst>
          </p:cNvPr>
          <p:cNvSpPr txBox="1"/>
          <p:nvPr/>
        </p:nvSpPr>
        <p:spPr>
          <a:xfrm>
            <a:off x="787400" y="1524000"/>
            <a:ext cx="30734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What changed</a:t>
            </a:r>
            <a:endParaRPr lang="en-IL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C1D4A-0BA7-0BA3-4782-EE662577F056}"/>
              </a:ext>
            </a:extLst>
          </p:cNvPr>
          <p:cNvSpPr txBox="1"/>
          <p:nvPr/>
        </p:nvSpPr>
        <p:spPr>
          <a:xfrm>
            <a:off x="787400" y="1841500"/>
            <a:ext cx="30734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The move from AI chats to agentic AI and agent first IDEs.</a:t>
            </a:r>
          </a:p>
          <a:p>
            <a:endParaRPr lang="en-US" sz="16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 Improvement of agent capabilities both in tool usage and self-debugging capabilities</a:t>
            </a:r>
            <a:endParaRPr lang="en-IL" sz="16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E73CB3-4B71-29C5-5AA6-A0BA4E3CE6C7}"/>
              </a:ext>
            </a:extLst>
          </p:cNvPr>
          <p:cNvSpPr/>
          <p:nvPr/>
        </p:nvSpPr>
        <p:spPr>
          <a:xfrm>
            <a:off x="4401150" y="1422398"/>
            <a:ext cx="3429000" cy="2881315"/>
          </a:xfrm>
          <a:prstGeom prst="roundRect">
            <a:avLst/>
          </a:prstGeom>
          <a:solidFill>
            <a:srgbClr val="1CB6A4"/>
          </a:solidFill>
          <a:ln w="15875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F9DA9-0638-4A08-0D0A-ED1F4FD92443}"/>
              </a:ext>
            </a:extLst>
          </p:cNvPr>
          <p:cNvSpPr txBox="1"/>
          <p:nvPr/>
        </p:nvSpPr>
        <p:spPr>
          <a:xfrm>
            <a:off x="4502750" y="1524001"/>
            <a:ext cx="342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0C162E"/>
                </a:solidFill>
                <a:latin typeface="Aptos" panose="020B0004020202020204" pitchFamily="34" charset="0"/>
              </a:rPr>
              <a:t>Relevant capabilities</a:t>
            </a:r>
            <a:endParaRPr lang="en-IL" sz="1500" b="1" dirty="0">
              <a:solidFill>
                <a:srgbClr val="0C162E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9489D-DF28-165F-05A3-675D1BBF5DEA}"/>
              </a:ext>
            </a:extLst>
          </p:cNvPr>
          <p:cNvSpPr txBox="1"/>
          <p:nvPr/>
        </p:nvSpPr>
        <p:spPr>
          <a:xfrm>
            <a:off x="4502750" y="1841500"/>
            <a:ext cx="3073400" cy="246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Codebase management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Symbolic debugging with external tools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Optimization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Long-horizon state tracking through context files and result artifacts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Automatic report generation</a:t>
            </a:r>
            <a:endParaRPr lang="en-IL" sz="1400" dirty="0">
              <a:solidFill>
                <a:srgbClr val="0C16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0712EE-6347-BAF6-DFE3-55C3E1B10F60}"/>
              </a:ext>
            </a:extLst>
          </p:cNvPr>
          <p:cNvSpPr/>
          <p:nvPr/>
        </p:nvSpPr>
        <p:spPr>
          <a:xfrm>
            <a:off x="8229600" y="1422399"/>
            <a:ext cx="3454400" cy="2881313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25630-5556-609E-DFC8-A05A58852FC5}"/>
              </a:ext>
            </a:extLst>
          </p:cNvPr>
          <p:cNvSpPr txBox="1"/>
          <p:nvPr/>
        </p:nvSpPr>
        <p:spPr>
          <a:xfrm>
            <a:off x="8356600" y="1524000"/>
            <a:ext cx="30734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External signals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157B5-DD8A-2204-627D-668542311C45}"/>
              </a:ext>
            </a:extLst>
          </p:cNvPr>
          <p:cNvSpPr txBox="1"/>
          <p:nvPr/>
        </p:nvSpPr>
        <p:spPr>
          <a:xfrm>
            <a:off x="8356600" y="1841500"/>
            <a:ext cx="32004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OpenAI’s increasing promotion of GPT as a scientific research companion.</a:t>
            </a:r>
          </a:p>
          <a:p>
            <a:endParaRPr lang="en-US" sz="16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OpenAI's 2025 scientific-research evaluation framed agentic systems as end-to-end scientific assistants, not just answer engines.</a:t>
            </a:r>
            <a:endParaRPr lang="en-IL" sz="16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2FAE32-897F-7AA4-B4C6-2E23C566A8E4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>
                <a:solidFill>
                  <a:srgbClr val="B4BED2"/>
                </a:solidFill>
                <a:latin typeface="Aptos" panose="020B0004020202020204" pitchFamily="34" charset="0"/>
              </a:rPr>
              <a:t>ORBIT case study | Slide 5</a:t>
            </a:r>
            <a:endParaRPr lang="en-IL" sz="100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EABF0F-BF25-3CE0-C77A-C163B6C0F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829" y="4444459"/>
            <a:ext cx="3638288" cy="22336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84E9BC-013E-DBED-4919-9FEA5A07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170" y="4450002"/>
            <a:ext cx="4931344" cy="222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0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FDA49-9858-07CA-F507-041ACE2ECEE2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98DA01-04A9-FBAE-F00E-BED08AD0C6B1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700AB-2774-F175-6FA4-3EA9C1D892CD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5. Case Study Part I: Repair the ORBIT Core</a:t>
            </a:r>
            <a:endParaRPr lang="en-IL" sz="2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219DD9-18E3-9C45-1314-FE689F84B4AB}"/>
              </a:ext>
            </a:extLst>
          </p:cNvPr>
          <p:cNvSpPr/>
          <p:nvPr/>
        </p:nvSpPr>
        <p:spPr>
          <a:xfrm>
            <a:off x="6604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9C9A3-77BF-5628-317E-154882EA7AD7}"/>
              </a:ext>
            </a:extLst>
          </p:cNvPr>
          <p:cNvSpPr/>
          <p:nvPr/>
        </p:nvSpPr>
        <p:spPr>
          <a:xfrm>
            <a:off x="660400" y="1447800"/>
            <a:ext cx="101600" cy="15748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78AD1-4B7F-8A7F-6AEF-78633AB4FEDE}"/>
              </a:ext>
            </a:extLst>
          </p:cNvPr>
          <p:cNvSpPr txBox="1"/>
          <p:nvPr/>
        </p:nvSpPr>
        <p:spPr>
          <a:xfrm>
            <a:off x="863600" y="1549400"/>
            <a:ext cx="29718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"debug graviton_basis_toolkit.wl until it works and gives the expected output"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7E5CD-DA92-716E-4A20-46DCFEB73D27}"/>
              </a:ext>
            </a:extLst>
          </p:cNvPr>
          <p:cNvSpPr txBox="1"/>
          <p:nvPr/>
        </p:nvSpPr>
        <p:spPr>
          <a:xfrm>
            <a:off x="863600" y="2229953"/>
            <a:ext cx="29718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fixed syntax issues, corrected derivative-partition logic, and made the basis-computation pipeline run again.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28B9A5-22DB-2C6A-8FA5-52A4AC742FAB}"/>
              </a:ext>
            </a:extLst>
          </p:cNvPr>
          <p:cNvSpPr/>
          <p:nvPr/>
        </p:nvSpPr>
        <p:spPr>
          <a:xfrm>
            <a:off x="44450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E8B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FE92DF-1E55-2E11-6927-A305A12993A0}"/>
              </a:ext>
            </a:extLst>
          </p:cNvPr>
          <p:cNvSpPr/>
          <p:nvPr/>
        </p:nvSpPr>
        <p:spPr>
          <a:xfrm>
            <a:off x="4445000" y="1447800"/>
            <a:ext cx="101600" cy="15748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41EEB-B3BE-AB6E-E469-BE24B662A287}"/>
              </a:ext>
            </a:extLst>
          </p:cNvPr>
          <p:cNvSpPr txBox="1"/>
          <p:nvPr/>
        </p:nvSpPr>
        <p:spPr>
          <a:xfrm>
            <a:off x="4648200" y="1549400"/>
            <a:ext cx="29718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"doesn't fieldRedefinitionsAndIBP.nb provide different results?"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4D090-FC32-2AD4-D6CB-4CF7852CCE56}"/>
              </a:ext>
            </a:extLst>
          </p:cNvPr>
          <p:cNvSpPr txBox="1"/>
          <p:nvPr/>
        </p:nvSpPr>
        <p:spPr>
          <a:xfrm>
            <a:off x="4648200" y="2145315"/>
            <a:ext cx="29718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This forced a careful comparison between notebook conventions and the package's full sector generation. The discrepancy exposed an IBP canonicalization bug.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0C2C46-1A16-675C-6C4C-BB7395D15EF0}"/>
              </a:ext>
            </a:extLst>
          </p:cNvPr>
          <p:cNvSpPr/>
          <p:nvPr/>
        </p:nvSpPr>
        <p:spPr>
          <a:xfrm>
            <a:off x="8229600" y="1447800"/>
            <a:ext cx="33274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5A6D1-6E50-ED74-1B5E-706BBB234000}"/>
              </a:ext>
            </a:extLst>
          </p:cNvPr>
          <p:cNvSpPr/>
          <p:nvPr/>
        </p:nvSpPr>
        <p:spPr>
          <a:xfrm>
            <a:off x="8229600" y="1447800"/>
            <a:ext cx="101600" cy="15748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AD103-5FF8-ABDB-2707-20E1D52C5021}"/>
              </a:ext>
            </a:extLst>
          </p:cNvPr>
          <p:cNvSpPr txBox="1"/>
          <p:nvPr/>
        </p:nvSpPr>
        <p:spPr>
          <a:xfrm>
            <a:off x="8432800" y="1549400"/>
            <a:ext cx="3022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"the single graviton, 2 derivative terms have a physical count of 2, but isn't that a total derivative?"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2DE9FD-6AB9-DDDB-D13C-46B69BAB1CB8}"/>
              </a:ext>
            </a:extLst>
          </p:cNvPr>
          <p:cNvSpPr txBox="1"/>
          <p:nvPr/>
        </p:nvSpPr>
        <p:spPr>
          <a:xfrm>
            <a:off x="8432800" y="2229954"/>
            <a:ext cx="30226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traced this to incomplete scalar-derivative canonicalization and fixed the {1,2} sector so it vanished modulo IBP as it should.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1CD6F12-CB3A-5E2C-09EA-1340768D26FA}"/>
              </a:ext>
            </a:extLst>
          </p:cNvPr>
          <p:cNvSpPr/>
          <p:nvPr/>
        </p:nvSpPr>
        <p:spPr>
          <a:xfrm>
            <a:off x="660400" y="3505200"/>
            <a:ext cx="10896600" cy="2057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3B34CD-3CB6-BBD1-ECBA-7D875153BC24}"/>
              </a:ext>
            </a:extLst>
          </p:cNvPr>
          <p:cNvSpPr txBox="1"/>
          <p:nvPr/>
        </p:nvSpPr>
        <p:spPr>
          <a:xfrm>
            <a:off x="787400" y="3606800"/>
            <a:ext cx="106426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Successful physics-guided code changes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BD81F-91B6-8962-1E46-AC0BE4F23C87}"/>
              </a:ext>
            </a:extLst>
          </p:cNvPr>
          <p:cNvSpPr txBox="1"/>
          <p:nvPr/>
        </p:nvSpPr>
        <p:spPr>
          <a:xfrm>
            <a:off x="787400" y="3991675"/>
            <a:ext cx="106426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Restored scalar-derivative commutation and derivative sorting in the IBP algorithm.</a:t>
            </a:r>
          </a:p>
          <a:p>
            <a:endParaRPr lang="en-US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Ensured total derivatives vanish.</a:t>
            </a:r>
          </a:p>
          <a:p>
            <a:endParaRPr lang="en-US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Validated corrected counts such as {3,2}: </a:t>
            </a:r>
            <a:r>
              <a:rPr lang="en-US" dirty="0" err="1">
                <a:solidFill>
                  <a:srgbClr val="F4F6FA"/>
                </a:solidFill>
                <a:latin typeface="Aptos" panose="020B0004020202020204" pitchFamily="34" charset="0"/>
              </a:rPr>
              <a:t>IBPCount</a:t>
            </a: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 = 14, </a:t>
            </a:r>
            <a:r>
              <a:rPr lang="en-US" dirty="0" err="1">
                <a:solidFill>
                  <a:srgbClr val="F4F6FA"/>
                </a:solidFill>
                <a:latin typeface="Aptos" panose="020B0004020202020204" pitchFamily="34" charset="0"/>
              </a:rPr>
              <a:t>RedefRank</a:t>
            </a: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 = 4, </a:t>
            </a:r>
            <a:r>
              <a:rPr lang="en-US" dirty="0" err="1">
                <a:solidFill>
                  <a:srgbClr val="F4F6FA"/>
                </a:solidFill>
                <a:latin typeface="Aptos" panose="020B0004020202020204" pitchFamily="34" charset="0"/>
              </a:rPr>
              <a:t>PhysicalCount</a:t>
            </a:r>
            <a:r>
              <a:rPr lang="en-US" dirty="0">
                <a:solidFill>
                  <a:srgbClr val="F4F6FA"/>
                </a:solidFill>
                <a:latin typeface="Aptos" panose="020B0004020202020204" pitchFamily="34" charset="0"/>
              </a:rPr>
              <a:t> = 10.</a:t>
            </a:r>
            <a:endParaRPr lang="en-IL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929A47-4F3C-5B8B-5DF9-B5F96617F52D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6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2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CE794C-9B32-98B3-41A9-8F325273E9E3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A74195-A14C-7CF3-DF98-DD5ADC884890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37A6D-6BC6-C79A-EB52-7A3A62C366EA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Case Study Part II: Build a General Reduction and Validation Workflow</a:t>
            </a:r>
            <a:endParaRPr lang="en-IL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71F5F1-6850-4897-7297-409351A7B661}"/>
              </a:ext>
            </a:extLst>
          </p:cNvPr>
          <p:cNvSpPr/>
          <p:nvPr/>
        </p:nvSpPr>
        <p:spPr>
          <a:xfrm>
            <a:off x="6604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F6762-9185-F0EC-BC1B-E3102793BB84}"/>
              </a:ext>
            </a:extLst>
          </p:cNvPr>
          <p:cNvSpPr/>
          <p:nvPr/>
        </p:nvSpPr>
        <p:spPr>
          <a:xfrm>
            <a:off x="660400" y="1447800"/>
            <a:ext cx="101600" cy="15748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857464-E6DC-3F14-41E8-6A6E804E5C13}"/>
              </a:ext>
            </a:extLst>
          </p:cNvPr>
          <p:cNvSpPr txBox="1"/>
          <p:nvPr/>
        </p:nvSpPr>
        <p:spPr>
          <a:xfrm>
            <a:off x="863600" y="1549400"/>
            <a:ext cx="2971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"write a new code that takes a lagrangian and removes the ibp and field-redefinition redundancies"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FB3652-A6DD-6FBC-12F5-218D9CB67B77}"/>
              </a:ext>
            </a:extLst>
          </p:cNvPr>
          <p:cNvSpPr txBox="1"/>
          <p:nvPr/>
        </p:nvSpPr>
        <p:spPr>
          <a:xfrm>
            <a:off x="863600" y="2220167"/>
            <a:ext cx="29718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added a reducer API that splits an input by sector, projects it onto the raw basis, removes IBP, and then quotients by redefinition images where appropriate.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4F6C50-B356-A82A-753A-309008913020}"/>
              </a:ext>
            </a:extLst>
          </p:cNvPr>
          <p:cNvSpPr/>
          <p:nvPr/>
        </p:nvSpPr>
        <p:spPr>
          <a:xfrm>
            <a:off x="44450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2C1E80-7922-DB20-2CF5-826CD0E50408}"/>
              </a:ext>
            </a:extLst>
          </p:cNvPr>
          <p:cNvSpPr/>
          <p:nvPr/>
        </p:nvSpPr>
        <p:spPr>
          <a:xfrm>
            <a:off x="4445000" y="1447800"/>
            <a:ext cx="101600" cy="1574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499EB2-0ED1-C802-4570-0CAE828E6CF7}"/>
              </a:ext>
            </a:extLst>
          </p:cNvPr>
          <p:cNvSpPr txBox="1"/>
          <p:nvPr/>
        </p:nvSpPr>
        <p:spPr>
          <a:xfrm>
            <a:off x="4648200" y="1549400"/>
            <a:ext cx="2971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"test the new code by taking a lagrangian which is the EOM times some general lagrangian"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B18B6-EEC9-A96D-D0EA-49D94D6393A9}"/>
              </a:ext>
            </a:extLst>
          </p:cNvPr>
          <p:cNvSpPr txBox="1"/>
          <p:nvPr/>
        </p:nvSpPr>
        <p:spPr>
          <a:xfrm>
            <a:off x="4673602" y="2304805"/>
            <a:ext cx="29718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built disguised EOM-image tests in {3,2} and {3,4}; both reduced exactly to zero, confirming the implementation.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7901AF-30D1-CF48-A989-F821EB7609DF}"/>
              </a:ext>
            </a:extLst>
          </p:cNvPr>
          <p:cNvSpPr/>
          <p:nvPr/>
        </p:nvSpPr>
        <p:spPr>
          <a:xfrm>
            <a:off x="8229600" y="1447800"/>
            <a:ext cx="33274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E8B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7B79C2-B272-26A8-C780-F579348FEEEB}"/>
              </a:ext>
            </a:extLst>
          </p:cNvPr>
          <p:cNvSpPr/>
          <p:nvPr/>
        </p:nvSpPr>
        <p:spPr>
          <a:xfrm>
            <a:off x="8229600" y="1447800"/>
            <a:ext cx="101600" cy="15748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CB1D9-3F25-DAED-D8B9-FACA0B1EAA29}"/>
              </a:ext>
            </a:extLst>
          </p:cNvPr>
          <p:cNvSpPr txBox="1"/>
          <p:nvPr/>
        </p:nvSpPr>
        <p:spPr>
          <a:xfrm>
            <a:off x="8432800" y="1549400"/>
            <a:ext cx="30226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"create a comprehensive report ... mathematical background, validation, and a worked example"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2D1CB-2DA3-112D-739E-B13B1800A8D4}"/>
              </a:ext>
            </a:extLst>
          </p:cNvPr>
          <p:cNvSpPr txBox="1"/>
          <p:nvPr/>
        </p:nvSpPr>
        <p:spPr>
          <a:xfrm>
            <a:off x="8432800" y="2304805"/>
            <a:ext cx="30226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generated notebooks, PDFs, and a paper-style LaTeX report documenting the toolkit, algorithms, and validation logic.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1A576D-A5A4-E0D0-29D5-4EAEB978FD38}"/>
              </a:ext>
            </a:extLst>
          </p:cNvPr>
          <p:cNvSpPr/>
          <p:nvPr/>
        </p:nvSpPr>
        <p:spPr>
          <a:xfrm>
            <a:off x="660400" y="3505200"/>
            <a:ext cx="10896600" cy="2057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1F132-D391-4EB7-E2A1-4259D9102DF9}"/>
              </a:ext>
            </a:extLst>
          </p:cNvPr>
          <p:cNvSpPr txBox="1"/>
          <p:nvPr/>
        </p:nvSpPr>
        <p:spPr>
          <a:xfrm>
            <a:off x="787400" y="3606800"/>
            <a:ext cx="106426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Concrete validation outputs</a:t>
            </a:r>
            <a:endParaRPr lang="en-IL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2FF71B-4B57-BC3D-8AEE-77D9456D52F3}"/>
              </a:ext>
            </a:extLst>
          </p:cNvPr>
          <p:cNvSpPr txBox="1"/>
          <p:nvPr/>
        </p:nvSpPr>
        <p:spPr>
          <a:xfrm>
            <a:off x="787400" y="3924300"/>
            <a:ext cx="106426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Reduction API exercised on mixed sectors and on redundant EOM images.</a:t>
            </a:r>
          </a:p>
          <a:p>
            <a:endParaRPr lang="en-US" sz="16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Persistent validation scripts, PDF reports, and context tracking were added so crashes would not erase state.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C7B3DF-11FC-44C3-211B-4D10EDD73232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7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09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27A551-8280-E700-6F35-BC950496697B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E5139-A052-0EDB-FA89-01E54C4ADA64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5A2B0-05D7-8791-3CE0-EC14C40F30F2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Case Study Part III: ORBIT_BUILD and the Fixed-EH Comparison</a:t>
            </a:r>
            <a:endParaRPr lang="en-IL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D97012-3FFD-DBBE-9DAC-7E7470E8505A}"/>
              </a:ext>
            </a:extLst>
          </p:cNvPr>
          <p:cNvSpPr/>
          <p:nvPr/>
        </p:nvSpPr>
        <p:spPr>
          <a:xfrm>
            <a:off x="6604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25D1D3-72AF-960D-17C0-55DE850CA69F}"/>
              </a:ext>
            </a:extLst>
          </p:cNvPr>
          <p:cNvSpPr/>
          <p:nvPr/>
        </p:nvSpPr>
        <p:spPr>
          <a:xfrm>
            <a:off x="660400" y="1447800"/>
            <a:ext cx="101600" cy="15748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2769A-7D68-8BBF-25DF-CBF6B7F2CF2F}"/>
              </a:ext>
            </a:extLst>
          </p:cNvPr>
          <p:cNvSpPr txBox="1"/>
          <p:nvPr/>
        </p:nvSpPr>
        <p:spPr>
          <a:xfrm>
            <a:off x="863600" y="1549400"/>
            <a:ext cx="29718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ptos" panose="020B0004020202020204" pitchFamily="34" charset="0"/>
              </a:rPr>
              <a:t>"continue according to the ORBIT_BUILD fixed-EH comparison plan"</a:t>
            </a:r>
            <a:endParaRPr lang="en-IL" sz="12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03BFCB-71F1-E90E-81D1-0FAD7B8D2110}"/>
              </a:ext>
            </a:extLst>
          </p:cNvPr>
          <p:cNvSpPr txBox="1"/>
          <p:nvPr/>
        </p:nvSpPr>
        <p:spPr>
          <a:xfrm>
            <a:off x="863600" y="2187426"/>
            <a:ext cx="29718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</a:t>
            </a:r>
            <a:r>
              <a:rPr lang="en-US" sz="1100" dirty="0" err="1">
                <a:solidFill>
                  <a:srgbClr val="F4F6FA"/>
                </a:solidFill>
                <a:latin typeface="Aptos" panose="020B0004020202020204" pitchFamily="34" charset="0"/>
              </a:rPr>
              <a:t>vendored</a:t>
            </a:r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 the translator, built the comparison package, added staged checkpointing, and created a live ORBIT_BUILD context file.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5B9CC3-8211-84F0-F612-81218D9155CB}"/>
              </a:ext>
            </a:extLst>
          </p:cNvPr>
          <p:cNvSpPr/>
          <p:nvPr/>
        </p:nvSpPr>
        <p:spPr>
          <a:xfrm>
            <a:off x="4445000" y="1447800"/>
            <a:ext cx="32766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E8B5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76AB5-9CA3-EFDA-811E-996720C08F1C}"/>
              </a:ext>
            </a:extLst>
          </p:cNvPr>
          <p:cNvSpPr/>
          <p:nvPr/>
        </p:nvSpPr>
        <p:spPr>
          <a:xfrm>
            <a:off x="4445000" y="1447800"/>
            <a:ext cx="101600" cy="15748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5BEB7-B320-D694-D9F6-64365BE250DE}"/>
              </a:ext>
            </a:extLst>
          </p:cNvPr>
          <p:cNvSpPr txBox="1"/>
          <p:nvPr/>
        </p:nvSpPr>
        <p:spPr>
          <a:xfrm>
            <a:off x="4648200" y="1549400"/>
            <a:ext cx="29718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"let's speed up the computation as much as possible"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064F7-F04F-D81F-1C2B-583ED04711C3}"/>
              </a:ext>
            </a:extLst>
          </p:cNvPr>
          <p:cNvSpPr txBox="1"/>
          <p:nvPr/>
        </p:nvSpPr>
        <p:spPr>
          <a:xfrm>
            <a:off x="4648200" y="2187425"/>
            <a:ext cx="29718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identified </a:t>
            </a:r>
            <a:r>
              <a:rPr lang="en-US" sz="1100" dirty="0" err="1">
                <a:solidFill>
                  <a:srgbClr val="F4F6FA"/>
                </a:solidFill>
                <a:latin typeface="Aptos" panose="020B0004020202020204" pitchFamily="34" charset="0"/>
              </a:rPr>
              <a:t>xPert</a:t>
            </a:r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 expansion and basis projection as the bottlenecks, added disk caching for the reference expansion, and removed redundant canonicalization.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2C81E7-90E9-FB48-48B4-AF4D16C9EFAE}"/>
              </a:ext>
            </a:extLst>
          </p:cNvPr>
          <p:cNvSpPr/>
          <p:nvPr/>
        </p:nvSpPr>
        <p:spPr>
          <a:xfrm>
            <a:off x="8229600" y="1447800"/>
            <a:ext cx="3327400" cy="1574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EA6F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FA0E9F-40FB-AA8E-05F7-4DA571F056E9}"/>
              </a:ext>
            </a:extLst>
          </p:cNvPr>
          <p:cNvSpPr/>
          <p:nvPr/>
        </p:nvSpPr>
        <p:spPr>
          <a:xfrm>
            <a:off x="8229600" y="1447800"/>
            <a:ext cx="101600" cy="1574800"/>
          </a:xfrm>
          <a:prstGeom prst="rect">
            <a:avLst/>
          </a:prstGeom>
          <a:solidFill>
            <a:srgbClr val="EA6F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6F1CD7-AAAD-846E-B1D2-4C5F887042AF}"/>
              </a:ext>
            </a:extLst>
          </p:cNvPr>
          <p:cNvSpPr txBox="1"/>
          <p:nvPr/>
        </p:nvSpPr>
        <p:spPr>
          <a:xfrm>
            <a:off x="8432800" y="1549400"/>
            <a:ext cx="30226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"did you consider canonical normalization?"</a:t>
            </a:r>
            <a:endParaRPr lang="en-IL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8D2507-F8A3-C00F-6453-732EC0FAEB15}"/>
              </a:ext>
            </a:extLst>
          </p:cNvPr>
          <p:cNvSpPr txBox="1"/>
          <p:nvPr/>
        </p:nvSpPr>
        <p:spPr>
          <a:xfrm>
            <a:off x="8432800" y="2187424"/>
            <a:ext cx="30226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The agent derived the exact kinetic </a:t>
            </a:r>
            <a:r>
              <a:rPr lang="en-US" sz="1100" dirty="0" err="1">
                <a:solidFill>
                  <a:srgbClr val="F4F6FA"/>
                </a:solidFill>
                <a:latin typeface="Aptos" panose="020B0004020202020204" pitchFamily="34" charset="0"/>
              </a:rPr>
              <a:t>prefactor</a:t>
            </a:r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 </a:t>
            </a:r>
            <a:r>
              <a:rPr lang="en-US" sz="1100" dirty="0" err="1">
                <a:solidFill>
                  <a:srgbClr val="F4F6FA"/>
                </a:solidFill>
                <a:latin typeface="Aptos" panose="020B0004020202020204" pitchFamily="34" charset="0"/>
              </a:rPr>
              <a:t>Z_h</a:t>
            </a:r>
            <a:r>
              <a:rPr lang="en-US" sz="1100" dirty="0">
                <a:solidFill>
                  <a:srgbClr val="F4F6FA"/>
                </a:solidFill>
                <a:latin typeface="Aptos" panose="020B0004020202020204" pitchFamily="34" charset="0"/>
              </a:rPr>
              <a:t>, separated raw matching from canonically normalized matching, and exposed a genuine sign-convention branch.</a:t>
            </a:r>
            <a:endParaRPr lang="en-IL" sz="11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555DEEA-28C2-4C12-013C-CB0B0FE79CCD}"/>
              </a:ext>
            </a:extLst>
          </p:cNvPr>
          <p:cNvSpPr/>
          <p:nvPr/>
        </p:nvSpPr>
        <p:spPr>
          <a:xfrm>
            <a:off x="660400" y="3505200"/>
            <a:ext cx="10896600" cy="2184400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52F1B-27EF-038F-4742-BFE4E778A1C1}"/>
              </a:ext>
            </a:extLst>
          </p:cNvPr>
          <p:cNvSpPr txBox="1"/>
          <p:nvPr/>
        </p:nvSpPr>
        <p:spPr>
          <a:xfrm>
            <a:off x="787400" y="3606800"/>
            <a:ext cx="106426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Final branch analysis</a:t>
            </a:r>
            <a:endParaRPr lang="en-IL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0186FA-6D32-A02B-FECF-3CB8E4771B77}"/>
              </a:ext>
            </a:extLst>
          </p:cNvPr>
          <p:cNvSpPr txBox="1"/>
          <p:nvPr/>
        </p:nvSpPr>
        <p:spPr>
          <a:xfrm>
            <a:off x="787400" y="3924300"/>
            <a:ext cx="106426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PC kept crashing. By keeping a context file always updated and by using checkpoints, the agent could keep going without needing any external help, right from the part where the computation stopped.</a:t>
            </a:r>
          </a:p>
          <a:p>
            <a:endParaRPr lang="en-US" sz="16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dirty="0">
                <a:solidFill>
                  <a:srgbClr val="F4F6FA"/>
                </a:solidFill>
                <a:latin typeface="Aptos" panose="020B0004020202020204" pitchFamily="34" charset="0"/>
              </a:rPr>
              <a:t>AI isn’t perfect yet – need to make sure it includes all the correct physics. For example, canonical normalization. </a:t>
            </a:r>
            <a:endParaRPr lang="en-IL" sz="16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1CC6A-1BD6-E9A6-65A7-D0373434C69B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8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9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D5498-18E2-E625-DC3A-73032A19FFDF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D11302-BF26-9E42-160F-7F248FA5AA79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0426E-DECC-4862-2EEB-2EB58A03D845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Tests, Sanity Checks, and Scientific Guardrails</a:t>
            </a:r>
            <a:endParaRPr lang="en-IL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6E274A-8341-316A-66FC-1434708DBD2C}"/>
              </a:ext>
            </a:extLst>
          </p:cNvPr>
          <p:cNvSpPr/>
          <p:nvPr/>
        </p:nvSpPr>
        <p:spPr>
          <a:xfrm>
            <a:off x="762000" y="12700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7C03C-FD1F-7C15-8179-0686D0A6D3E8}"/>
              </a:ext>
            </a:extLst>
          </p:cNvPr>
          <p:cNvSpPr/>
          <p:nvPr/>
        </p:nvSpPr>
        <p:spPr>
          <a:xfrm>
            <a:off x="762000" y="1270000"/>
            <a:ext cx="101600" cy="431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24AE6-DA6E-FCFA-9DF0-9FD34698C2E9}"/>
              </a:ext>
            </a:extLst>
          </p:cNvPr>
          <p:cNvSpPr txBox="1"/>
          <p:nvPr/>
        </p:nvSpPr>
        <p:spPr>
          <a:xfrm>
            <a:off x="965200" y="13716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Sector sanity: Verified that the {1,2} sector vanishes modulo IBP after the canonicalization fix.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366C8B-7AD8-FBD6-18F2-1644A4208011}"/>
              </a:ext>
            </a:extLst>
          </p:cNvPr>
          <p:cNvSpPr/>
          <p:nvPr/>
        </p:nvSpPr>
        <p:spPr>
          <a:xfrm>
            <a:off x="762000" y="18542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29C2-1CC4-A0EA-9D33-58D8046217C4}"/>
              </a:ext>
            </a:extLst>
          </p:cNvPr>
          <p:cNvSpPr/>
          <p:nvPr/>
        </p:nvSpPr>
        <p:spPr>
          <a:xfrm>
            <a:off x="762000" y="1854200"/>
            <a:ext cx="101600" cy="431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97C47-550B-D70B-3F74-B3F69DA38070}"/>
              </a:ext>
            </a:extLst>
          </p:cNvPr>
          <p:cNvSpPr txBox="1"/>
          <p:nvPr/>
        </p:nvSpPr>
        <p:spPr>
          <a:xfrm>
            <a:off x="965200" y="19558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IBP tests: Resolved the cubic {3,2} mismatch by identifying the missing IBP reduction and clarifying restricted versus full-sector counting.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A2A0B1-1C07-7985-35C8-23520333C286}"/>
              </a:ext>
            </a:extLst>
          </p:cNvPr>
          <p:cNvSpPr/>
          <p:nvPr/>
        </p:nvSpPr>
        <p:spPr>
          <a:xfrm>
            <a:off x="762000" y="24384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AD5D6-0D90-DAF6-13A5-16761978CF48}"/>
              </a:ext>
            </a:extLst>
          </p:cNvPr>
          <p:cNvSpPr/>
          <p:nvPr/>
        </p:nvSpPr>
        <p:spPr>
          <a:xfrm>
            <a:off x="762000" y="2438400"/>
            <a:ext cx="101600" cy="431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53405A-0824-C4C4-88D0-BE762D5C156F}"/>
              </a:ext>
            </a:extLst>
          </p:cNvPr>
          <p:cNvSpPr txBox="1"/>
          <p:nvPr/>
        </p:nvSpPr>
        <p:spPr>
          <a:xfrm>
            <a:off x="965200" y="25400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Redundant images: Tested L = EOM x delta h with disguised expressions; the reducer returned zero.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6EED0CF-97F7-9311-91F9-295D6C253C45}"/>
              </a:ext>
            </a:extLst>
          </p:cNvPr>
          <p:cNvSpPr/>
          <p:nvPr/>
        </p:nvSpPr>
        <p:spPr>
          <a:xfrm>
            <a:off x="762000" y="30226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9DFF2-E21E-1349-A4C3-22BC99B00833}"/>
              </a:ext>
            </a:extLst>
          </p:cNvPr>
          <p:cNvSpPr/>
          <p:nvPr/>
        </p:nvSpPr>
        <p:spPr>
          <a:xfrm>
            <a:off x="762000" y="3022600"/>
            <a:ext cx="101600" cy="431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32173-F03F-9795-BF19-FE09FCDEEE0E}"/>
              </a:ext>
            </a:extLst>
          </p:cNvPr>
          <p:cNvSpPr txBox="1"/>
          <p:nvPr/>
        </p:nvSpPr>
        <p:spPr>
          <a:xfrm>
            <a:off x="965200" y="31242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Comparing to manual calculation: The package returns the same answer we got for d&lt;=5.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7AE0FF-E8D6-FBF3-322C-3A124CD0F7E2}"/>
              </a:ext>
            </a:extLst>
          </p:cNvPr>
          <p:cNvSpPr/>
          <p:nvPr/>
        </p:nvSpPr>
        <p:spPr>
          <a:xfrm>
            <a:off x="762000" y="36068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5DC5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2E8558-8D97-3A54-49B5-76EA935DECA2}"/>
              </a:ext>
            </a:extLst>
          </p:cNvPr>
          <p:cNvSpPr/>
          <p:nvPr/>
        </p:nvSpPr>
        <p:spPr>
          <a:xfrm>
            <a:off x="762000" y="3606800"/>
            <a:ext cx="101600" cy="431800"/>
          </a:xfrm>
          <a:prstGeom prst="rect">
            <a:avLst/>
          </a:prstGeom>
          <a:solidFill>
            <a:srgbClr val="5DC5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9CDC2F-C5CA-919A-435C-A13640129CB1}"/>
              </a:ext>
            </a:extLst>
          </p:cNvPr>
          <p:cNvSpPr txBox="1"/>
          <p:nvPr/>
        </p:nvSpPr>
        <p:spPr>
          <a:xfrm>
            <a:off x="965200" y="37084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Reference consistency: Checked that the EH {2,2} sector equals the toolkit's </a:t>
            </a:r>
            <a:r>
              <a:rPr lang="en-US" sz="1200" dirty="0" err="1">
                <a:solidFill>
                  <a:srgbClr val="F4F6FA"/>
                </a:solidFill>
                <a:latin typeface="Aptos" panose="020B0004020202020204" pitchFamily="34" charset="0"/>
              </a:rPr>
              <a:t>Fierz</a:t>
            </a:r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-Pauli </a:t>
            </a:r>
            <a:r>
              <a:rPr lang="en-US" sz="1200" dirty="0" err="1">
                <a:solidFill>
                  <a:srgbClr val="F4F6FA"/>
                </a:solidFill>
                <a:latin typeface="Aptos" panose="020B0004020202020204" pitchFamily="34" charset="0"/>
              </a:rPr>
              <a:t>Lagrangian</a:t>
            </a:r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 in the same reduced basis.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D37706-B6D2-9B70-01C2-D9166010E558}"/>
              </a:ext>
            </a:extLst>
          </p:cNvPr>
          <p:cNvSpPr/>
          <p:nvPr/>
        </p:nvSpPr>
        <p:spPr>
          <a:xfrm>
            <a:off x="762000" y="41910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F6C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4F8DA1-4302-F73F-86A3-564A3A0A7E8A}"/>
              </a:ext>
            </a:extLst>
          </p:cNvPr>
          <p:cNvSpPr/>
          <p:nvPr/>
        </p:nvSpPr>
        <p:spPr>
          <a:xfrm>
            <a:off x="762000" y="4191000"/>
            <a:ext cx="101600" cy="431800"/>
          </a:xfrm>
          <a:prstGeom prst="rect">
            <a:avLst/>
          </a:prstGeom>
          <a:solidFill>
            <a:srgbClr val="F6C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01F78D-FA03-E861-BCE6-97C7A1B6DC3E}"/>
              </a:ext>
            </a:extLst>
          </p:cNvPr>
          <p:cNvSpPr txBox="1"/>
          <p:nvPr/>
        </p:nvSpPr>
        <p:spPr>
          <a:xfrm>
            <a:off x="965200" y="42926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Convention split: Separated raw sign-convention matching from canonical-normalization matching; identified the unresolved kinetic-sign choice.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2B5646-CAE8-904A-09EF-AF83CCF74051}"/>
              </a:ext>
            </a:extLst>
          </p:cNvPr>
          <p:cNvSpPr/>
          <p:nvPr/>
        </p:nvSpPr>
        <p:spPr>
          <a:xfrm>
            <a:off x="762000" y="4775200"/>
            <a:ext cx="10795000" cy="431800"/>
          </a:xfrm>
          <a:prstGeom prst="roundRect">
            <a:avLst/>
          </a:prstGeom>
          <a:solidFill>
            <a:srgbClr val="222F54"/>
          </a:solidFill>
          <a:ln w="25400">
            <a:solidFill>
              <a:srgbClr val="F6C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062FF8-832A-DC69-0C08-B7F77733B1C8}"/>
              </a:ext>
            </a:extLst>
          </p:cNvPr>
          <p:cNvSpPr/>
          <p:nvPr/>
        </p:nvSpPr>
        <p:spPr>
          <a:xfrm>
            <a:off x="762000" y="4775200"/>
            <a:ext cx="101600" cy="431800"/>
          </a:xfrm>
          <a:prstGeom prst="rect">
            <a:avLst/>
          </a:prstGeom>
          <a:solidFill>
            <a:srgbClr val="F6C1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F87BEC-4BA0-3F8D-F492-9C26A2277099}"/>
              </a:ext>
            </a:extLst>
          </p:cNvPr>
          <p:cNvSpPr txBox="1"/>
          <p:nvPr/>
        </p:nvSpPr>
        <p:spPr>
          <a:xfrm>
            <a:off x="965200" y="4876800"/>
            <a:ext cx="104902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dirty="0">
                <a:solidFill>
                  <a:srgbClr val="F4F6FA"/>
                </a:solidFill>
                <a:latin typeface="Aptos" panose="020B0004020202020204" pitchFamily="34" charset="0"/>
              </a:rPr>
              <a:t>Unsupported leftovers: At d &lt;= 6 the full run still leaves a non-EH {2,4} sector.</a:t>
            </a:r>
            <a:endParaRPr lang="en-IL" sz="12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AECC11-2FAF-3B7F-A5DA-0A17989B6485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9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01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F4418C-5277-FA97-A57E-2A4632D34AAA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0BACEE-CFC1-8485-D6F8-69219F45DEA7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37854-2E5B-33C8-DC47-3E2F1297AA0A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 Display" panose="020B0004020202020204" pitchFamily="34" charset="0"/>
              </a:rPr>
              <a:t>What the AI Actually Added, and What Comes Next</a:t>
            </a:r>
            <a:endParaRPr lang="en-IL" sz="24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9F2EA9-591B-6401-6266-C683B86E55D8}"/>
              </a:ext>
            </a:extLst>
          </p:cNvPr>
          <p:cNvSpPr/>
          <p:nvPr/>
        </p:nvSpPr>
        <p:spPr>
          <a:xfrm>
            <a:off x="660400" y="1422400"/>
            <a:ext cx="3352800" cy="3265102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D35A6-CD8D-183D-442F-455A5E4AA422}"/>
              </a:ext>
            </a:extLst>
          </p:cNvPr>
          <p:cNvSpPr txBox="1"/>
          <p:nvPr/>
        </p:nvSpPr>
        <p:spPr>
          <a:xfrm>
            <a:off x="787400" y="1524000"/>
            <a:ext cx="2921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</a:rPr>
              <a:t>Package capabilities</a:t>
            </a:r>
            <a:endParaRPr lang="en-IL" sz="15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D7C61-9DE0-FA1C-687B-20FBC1257FF3}"/>
              </a:ext>
            </a:extLst>
          </p:cNvPr>
          <p:cNvSpPr txBox="1"/>
          <p:nvPr/>
        </p:nvSpPr>
        <p:spPr>
          <a:xfrm>
            <a:off x="787400" y="1841500"/>
            <a:ext cx="3175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Matchete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 -&gt; </a:t>
            </a: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xAct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 translator integrated into ORBIT</a:t>
            </a:r>
          </a:p>
          <a:p>
            <a:endParaRPr lang="en-US" sz="14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General </a:t>
            </a: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Lagrangian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 reducer modulo IBP and field redefinitions</a:t>
            </a:r>
          </a:p>
          <a:p>
            <a:endParaRPr lang="en-US" sz="14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Fixed-EH comparison package with report generation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6665D0-8CCE-2160-9DF5-A7910AFA6CAD}"/>
              </a:ext>
            </a:extLst>
          </p:cNvPr>
          <p:cNvSpPr/>
          <p:nvPr/>
        </p:nvSpPr>
        <p:spPr>
          <a:xfrm>
            <a:off x="4246076" y="1422399"/>
            <a:ext cx="3429000" cy="3265103"/>
          </a:xfrm>
          <a:prstGeom prst="roundRect">
            <a:avLst/>
          </a:prstGeom>
          <a:solidFill>
            <a:srgbClr val="1CB6A4"/>
          </a:solidFill>
          <a:ln w="15875">
            <a:solidFill>
              <a:srgbClr val="1C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7BA7B-C237-ECA5-06D7-8B5379EB8064}"/>
              </a:ext>
            </a:extLst>
          </p:cNvPr>
          <p:cNvSpPr txBox="1"/>
          <p:nvPr/>
        </p:nvSpPr>
        <p:spPr>
          <a:xfrm>
            <a:off x="4373076" y="1524000"/>
            <a:ext cx="3175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0C162E"/>
                </a:solidFill>
                <a:latin typeface="Aptos" panose="020B0004020202020204" pitchFamily="34" charset="0"/>
              </a:rPr>
              <a:t>Successful AI-proposed ideas</a:t>
            </a:r>
            <a:endParaRPr lang="en-IL" sz="1500" b="1">
              <a:solidFill>
                <a:srgbClr val="0C162E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63053-1F52-833C-FC43-F6CEFFF06822}"/>
              </a:ext>
            </a:extLst>
          </p:cNvPr>
          <p:cNvSpPr txBox="1"/>
          <p:nvPr/>
        </p:nvSpPr>
        <p:spPr>
          <a:xfrm>
            <a:off x="4373076" y="1841500"/>
            <a:ext cx="3175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Skip field-redefinition quotienting in quadratic sectors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Project to the raw basis first, then quotient by stored IBP relations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Searching for EOM*something is hard, go the opposite direction instead</a:t>
            </a:r>
          </a:p>
          <a:p>
            <a:endParaRPr lang="en-US" sz="1400" dirty="0">
              <a:solidFill>
                <a:srgbClr val="0C162E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0C162E"/>
                </a:solidFill>
                <a:latin typeface="Aptos" panose="020B0004020202020204" pitchFamily="34" charset="0"/>
              </a:rPr>
              <a:t>Separate supported and unsupported sector comparisons</a:t>
            </a:r>
            <a:endParaRPr lang="en-IL" sz="1400" dirty="0">
              <a:solidFill>
                <a:srgbClr val="0C16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469BCE-63F0-A84A-B081-BF5CCFA7F332}"/>
              </a:ext>
            </a:extLst>
          </p:cNvPr>
          <p:cNvSpPr/>
          <p:nvPr/>
        </p:nvSpPr>
        <p:spPr>
          <a:xfrm>
            <a:off x="7874000" y="1422400"/>
            <a:ext cx="3683000" cy="3265102"/>
          </a:xfrm>
          <a:prstGeom prst="roundRect">
            <a:avLst/>
          </a:prstGeom>
          <a:solidFill>
            <a:srgbClr val="222F54"/>
          </a:solidFill>
          <a:ln w="15875">
            <a:solidFill>
              <a:srgbClr val="1420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8A5DB-7180-CAD5-28F4-9D9084822337}"/>
              </a:ext>
            </a:extLst>
          </p:cNvPr>
          <p:cNvSpPr txBox="1"/>
          <p:nvPr/>
        </p:nvSpPr>
        <p:spPr>
          <a:xfrm>
            <a:off x="8001000" y="1524000"/>
            <a:ext cx="3429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Next steps</a:t>
            </a:r>
            <a:endParaRPr lang="en-IL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7AE6B-1B67-5F1B-247F-2615319EE7CB}"/>
              </a:ext>
            </a:extLst>
          </p:cNvPr>
          <p:cNvSpPr txBox="1"/>
          <p:nvPr/>
        </p:nvSpPr>
        <p:spPr>
          <a:xfrm>
            <a:off x="8001000" y="1841500"/>
            <a:ext cx="34290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Extend the field-redefinition layer beyond the linearized </a:t>
            </a:r>
            <a:r>
              <a:rPr lang="en-US" sz="1400" dirty="0" err="1">
                <a:solidFill>
                  <a:srgbClr val="F4F6FA"/>
                </a:solidFill>
                <a:latin typeface="Aptos" panose="020B0004020202020204" pitchFamily="34" charset="0"/>
              </a:rPr>
              <a:t>Fierz</a:t>
            </a: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-Pauli image.</a:t>
            </a:r>
          </a:p>
          <a:p>
            <a:endParaRPr lang="en-US" sz="1400" dirty="0">
              <a:solidFill>
                <a:srgbClr val="F4F6FA"/>
              </a:solidFill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dirty="0">
                <a:solidFill>
                  <a:srgbClr val="F4F6FA"/>
                </a:solidFill>
                <a:latin typeface="Aptos" panose="020B0004020202020204" pitchFamily="34" charset="0"/>
              </a:rPr>
              <a:t>Add fixed-dimension identities, evanescent operators, and gauge-invariance filters.</a:t>
            </a:r>
            <a:endParaRPr lang="en-IL" sz="1400" dirty="0">
              <a:solidFill>
                <a:srgbClr val="F4F6F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58FB26-BAB7-A940-6A25-0126E1322969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10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14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7A099-4299-31AA-DD4E-D3380F2F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B8949F-F649-0950-C844-6FA801E4DC98}"/>
              </a:ext>
            </a:extLst>
          </p:cNvPr>
          <p:cNvSpPr/>
          <p:nvPr/>
        </p:nvSpPr>
        <p:spPr>
          <a:xfrm>
            <a:off x="0" y="0"/>
            <a:ext cx="12192000" cy="254000"/>
          </a:xfrm>
          <a:prstGeom prst="rect">
            <a:avLst/>
          </a:prstGeom>
          <a:solidFill>
            <a:srgbClr val="E8B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18B10-6568-A560-6579-75B71D44F9AC}"/>
              </a:ext>
            </a:extLst>
          </p:cNvPr>
          <p:cNvSpPr/>
          <p:nvPr/>
        </p:nvSpPr>
        <p:spPr>
          <a:xfrm>
            <a:off x="9753600" y="254000"/>
            <a:ext cx="2438400" cy="114300"/>
          </a:xfrm>
          <a:prstGeom prst="rect">
            <a:avLst/>
          </a:prstGeom>
          <a:solidFill>
            <a:srgbClr val="1CB6A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99A96-B8EF-3387-0CD9-9333196F892C}"/>
              </a:ext>
            </a:extLst>
          </p:cNvPr>
          <p:cNvSpPr txBox="1"/>
          <p:nvPr/>
        </p:nvSpPr>
        <p:spPr>
          <a:xfrm>
            <a:off x="508000" y="558800"/>
            <a:ext cx="1092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 Display" panose="020B0004020202020204" pitchFamily="34" charset="0"/>
              </a:rPr>
              <a:t>The final report</a:t>
            </a:r>
            <a:endParaRPr lang="en-IL" sz="2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1D2A9F-664A-E146-7CC5-96850BDD42F3}"/>
              </a:ext>
            </a:extLst>
          </p:cNvPr>
          <p:cNvSpPr txBox="1"/>
          <p:nvPr/>
        </p:nvSpPr>
        <p:spPr>
          <a:xfrm>
            <a:off x="7493000" y="6413500"/>
            <a:ext cx="4191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B4BED2"/>
                </a:solidFill>
                <a:latin typeface="Aptos" panose="020B0004020202020204" pitchFamily="34" charset="0"/>
              </a:rPr>
              <a:t>ORBIT case study | Slide 11</a:t>
            </a:r>
            <a:endParaRPr lang="en-IL" sz="1000" dirty="0">
              <a:solidFill>
                <a:srgbClr val="B4BED2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286EA8C-18B5-0245-FE0A-B1A226DC2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759137"/>
              </p:ext>
            </p:extLst>
          </p:nvPr>
        </p:nvGraphicFramePr>
        <p:xfrm>
          <a:off x="4206875" y="754063"/>
          <a:ext cx="3778250" cy="534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DF" r:id="rId2" imgW="0" imgH="360" progId="FoxitReader.Document">
                  <p:embed/>
                </p:oleObj>
              </mc:Choice>
              <mc:Fallback>
                <p:oleObj name="PDF" r:id="rId2" imgW="0" imgH="360" progId="FoxitReader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06875" y="754063"/>
                        <a:ext cx="3778250" cy="534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2136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1145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Foxit PDF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Lifshits</dc:creator>
  <cp:lastModifiedBy>Alon Lifshits</cp:lastModifiedBy>
  <cp:revision>32</cp:revision>
  <dcterms:created xsi:type="dcterms:W3CDTF">2026-03-15T19:56:24Z</dcterms:created>
  <dcterms:modified xsi:type="dcterms:W3CDTF">2026-03-17T07:54:07Z</dcterms:modified>
</cp:coreProperties>
</file>